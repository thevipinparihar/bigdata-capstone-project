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Helvetica World Bold" panose="020B0604020202020204" charset="-128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Helvetica World" panose="020B0604020202020204" charset="-128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6" d="100"/>
          <a:sy n="76" d="100"/>
        </p:scale>
        <p:origin x="-41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458190">
            <a:off x="10477411" y="-4291124"/>
            <a:ext cx="13610886" cy="8302196"/>
            <a:chOff x="0" y="0"/>
            <a:chExt cx="1476351" cy="900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76351" cy="900526"/>
            </a:xfrm>
            <a:custGeom>
              <a:avLst/>
              <a:gdLst/>
              <a:ahLst/>
              <a:cxnLst/>
              <a:rect l="l" t="t" r="r" b="b"/>
              <a:pathLst>
                <a:path w="1476351" h="900526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F0F7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1476351" cy="1033876"/>
            </a:xfrm>
            <a:prstGeom prst="rect">
              <a:avLst/>
            </a:prstGeom>
          </p:spPr>
          <p:txBody>
            <a:bodyPr lIns="123349" tIns="123349" rIns="123349" bIns="123349" rtlCol="0" anchor="ctr"/>
            <a:lstStyle/>
            <a:p>
              <a:pPr marL="0" lvl="0" indent="0" algn="ctr">
                <a:lnSpc>
                  <a:spcPts val="96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5400000">
            <a:off x="9296383" y="1330628"/>
            <a:ext cx="8302229" cy="8302196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F0F7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Freeform 7"/>
          <p:cNvSpPr/>
          <p:nvPr/>
        </p:nvSpPr>
        <p:spPr>
          <a:xfrm>
            <a:off x="112018" y="106647"/>
            <a:ext cx="1833364" cy="1844106"/>
          </a:xfrm>
          <a:custGeom>
            <a:avLst/>
            <a:gdLst/>
            <a:ahLst/>
            <a:cxnLst/>
            <a:rect l="l" t="t" r="r" b="b"/>
            <a:pathLst>
              <a:path w="1833364" h="1844106">
                <a:moveTo>
                  <a:pt x="0" y="0"/>
                </a:moveTo>
                <a:lnTo>
                  <a:pt x="1833364" y="0"/>
                </a:lnTo>
                <a:lnTo>
                  <a:pt x="1833364" y="1844106"/>
                </a:lnTo>
                <a:lnTo>
                  <a:pt x="0" y="1844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1069953" y="3388033"/>
            <a:ext cx="4755090" cy="4755090"/>
            <a:chOff x="0" y="0"/>
            <a:chExt cx="736600" cy="736600"/>
          </a:xfrm>
        </p:grpSpPr>
        <p:sp>
          <p:nvSpPr>
            <p:cNvPr id="9" name="Freeform 9"/>
            <p:cNvSpPr/>
            <p:nvPr/>
          </p:nvSpPr>
          <p:spPr>
            <a:xfrm>
              <a:off x="-213" y="-213"/>
              <a:ext cx="737026" cy="737029"/>
            </a:xfrm>
            <a:custGeom>
              <a:avLst/>
              <a:gdLst/>
              <a:ahLst/>
              <a:cxnLst/>
              <a:rect l="l" t="t" r="r" b="b"/>
              <a:pathLst>
                <a:path w="737026" h="737029">
                  <a:moveTo>
                    <a:pt x="390238" y="851"/>
                  </a:moveTo>
                  <a:lnTo>
                    <a:pt x="417639" y="143120"/>
                  </a:lnTo>
                  <a:cubicBezTo>
                    <a:pt x="424733" y="144654"/>
                    <a:pt x="431748" y="146536"/>
                    <a:pt x="438664" y="148753"/>
                  </a:cubicBezTo>
                  <a:lnTo>
                    <a:pt x="533524" y="39252"/>
                  </a:lnTo>
                  <a:cubicBezTo>
                    <a:pt x="546486" y="45750"/>
                    <a:pt x="559051" y="53001"/>
                    <a:pt x="571157" y="60977"/>
                  </a:cubicBezTo>
                  <a:lnTo>
                    <a:pt x="523758" y="197877"/>
                  </a:lnTo>
                  <a:cubicBezTo>
                    <a:pt x="529127" y="202758"/>
                    <a:pt x="534265" y="207902"/>
                    <a:pt x="539149" y="213271"/>
                  </a:cubicBezTo>
                  <a:lnTo>
                    <a:pt x="676051" y="165862"/>
                  </a:lnTo>
                  <a:cubicBezTo>
                    <a:pt x="684028" y="177980"/>
                    <a:pt x="691284" y="190543"/>
                    <a:pt x="697778" y="203497"/>
                  </a:cubicBezTo>
                  <a:lnTo>
                    <a:pt x="588278" y="298357"/>
                  </a:lnTo>
                  <a:cubicBezTo>
                    <a:pt x="590486" y="305272"/>
                    <a:pt x="592366" y="312286"/>
                    <a:pt x="593911" y="319384"/>
                  </a:cubicBezTo>
                  <a:lnTo>
                    <a:pt x="736172" y="346783"/>
                  </a:lnTo>
                  <a:cubicBezTo>
                    <a:pt x="737026" y="361257"/>
                    <a:pt x="737026" y="375772"/>
                    <a:pt x="736172" y="390233"/>
                  </a:cubicBezTo>
                  <a:lnTo>
                    <a:pt x="593911" y="417645"/>
                  </a:lnTo>
                  <a:cubicBezTo>
                    <a:pt x="592366" y="424730"/>
                    <a:pt x="590486" y="431744"/>
                    <a:pt x="588278" y="438659"/>
                  </a:cubicBezTo>
                  <a:lnTo>
                    <a:pt x="697778" y="533519"/>
                  </a:lnTo>
                  <a:cubicBezTo>
                    <a:pt x="691284" y="546487"/>
                    <a:pt x="684028" y="559050"/>
                    <a:pt x="676051" y="571153"/>
                  </a:cubicBezTo>
                  <a:lnTo>
                    <a:pt x="539149" y="523758"/>
                  </a:lnTo>
                  <a:cubicBezTo>
                    <a:pt x="534265" y="529126"/>
                    <a:pt x="529127" y="534258"/>
                    <a:pt x="523758" y="539153"/>
                  </a:cubicBezTo>
                  <a:lnTo>
                    <a:pt x="571157" y="676052"/>
                  </a:lnTo>
                  <a:cubicBezTo>
                    <a:pt x="559051" y="684029"/>
                    <a:pt x="546486" y="691280"/>
                    <a:pt x="533524" y="697777"/>
                  </a:cubicBezTo>
                  <a:lnTo>
                    <a:pt x="438664" y="588276"/>
                  </a:lnTo>
                  <a:cubicBezTo>
                    <a:pt x="431748" y="590480"/>
                    <a:pt x="424733" y="592362"/>
                    <a:pt x="417639" y="593910"/>
                  </a:cubicBezTo>
                  <a:lnTo>
                    <a:pt x="390238" y="736164"/>
                  </a:lnTo>
                  <a:cubicBezTo>
                    <a:pt x="375766" y="737029"/>
                    <a:pt x="361256" y="737029"/>
                    <a:pt x="346783" y="736164"/>
                  </a:cubicBezTo>
                  <a:lnTo>
                    <a:pt x="319381" y="593910"/>
                  </a:lnTo>
                  <a:cubicBezTo>
                    <a:pt x="312289" y="592362"/>
                    <a:pt x="305272" y="590480"/>
                    <a:pt x="298357" y="588276"/>
                  </a:cubicBezTo>
                  <a:lnTo>
                    <a:pt x="203499" y="697777"/>
                  </a:lnTo>
                  <a:cubicBezTo>
                    <a:pt x="190531" y="691280"/>
                    <a:pt x="177967" y="684029"/>
                    <a:pt x="165864" y="676052"/>
                  </a:cubicBezTo>
                  <a:lnTo>
                    <a:pt x="213259" y="539153"/>
                  </a:lnTo>
                  <a:cubicBezTo>
                    <a:pt x="207891" y="534258"/>
                    <a:pt x="202760" y="529126"/>
                    <a:pt x="197866" y="523758"/>
                  </a:cubicBezTo>
                  <a:lnTo>
                    <a:pt x="60977" y="571153"/>
                  </a:lnTo>
                  <a:cubicBezTo>
                    <a:pt x="52987" y="559050"/>
                    <a:pt x="45737" y="546487"/>
                    <a:pt x="39239" y="533519"/>
                  </a:cubicBezTo>
                  <a:lnTo>
                    <a:pt x="148741" y="438659"/>
                  </a:lnTo>
                  <a:cubicBezTo>
                    <a:pt x="146537" y="431744"/>
                    <a:pt x="144655" y="424730"/>
                    <a:pt x="143107" y="417645"/>
                  </a:cubicBezTo>
                  <a:lnTo>
                    <a:pt x="851" y="390233"/>
                  </a:lnTo>
                  <a:cubicBezTo>
                    <a:pt x="0" y="375772"/>
                    <a:pt x="0" y="361257"/>
                    <a:pt x="851" y="346783"/>
                  </a:cubicBezTo>
                  <a:lnTo>
                    <a:pt x="143107" y="319384"/>
                  </a:lnTo>
                  <a:cubicBezTo>
                    <a:pt x="144655" y="312286"/>
                    <a:pt x="146537" y="305272"/>
                    <a:pt x="148741" y="298357"/>
                  </a:cubicBezTo>
                  <a:lnTo>
                    <a:pt x="39239" y="203497"/>
                  </a:lnTo>
                  <a:cubicBezTo>
                    <a:pt x="45737" y="190543"/>
                    <a:pt x="52987" y="177980"/>
                    <a:pt x="60977" y="165862"/>
                  </a:cubicBezTo>
                  <a:lnTo>
                    <a:pt x="197866" y="213271"/>
                  </a:lnTo>
                  <a:cubicBezTo>
                    <a:pt x="202760" y="207902"/>
                    <a:pt x="207891" y="202758"/>
                    <a:pt x="213259" y="197877"/>
                  </a:cubicBezTo>
                  <a:lnTo>
                    <a:pt x="165864" y="60977"/>
                  </a:lnTo>
                  <a:cubicBezTo>
                    <a:pt x="177967" y="53001"/>
                    <a:pt x="190531" y="45750"/>
                    <a:pt x="203499" y="39252"/>
                  </a:cubicBezTo>
                  <a:lnTo>
                    <a:pt x="298357" y="148753"/>
                  </a:lnTo>
                  <a:cubicBezTo>
                    <a:pt x="305272" y="146536"/>
                    <a:pt x="312289" y="144654"/>
                    <a:pt x="319381" y="143120"/>
                  </a:cubicBezTo>
                  <a:lnTo>
                    <a:pt x="346783" y="851"/>
                  </a:lnTo>
                  <a:cubicBezTo>
                    <a:pt x="361256" y="0"/>
                    <a:pt x="375766" y="0"/>
                    <a:pt x="390238" y="851"/>
                  </a:cubicBezTo>
                  <a:close/>
                  <a:moveTo>
                    <a:pt x="368510" y="241662"/>
                  </a:moveTo>
                  <a:cubicBezTo>
                    <a:pt x="298495" y="241662"/>
                    <a:pt x="241650" y="298497"/>
                    <a:pt x="241650" y="368508"/>
                  </a:cubicBezTo>
                  <a:cubicBezTo>
                    <a:pt x="241650" y="438534"/>
                    <a:pt x="298495" y="495368"/>
                    <a:pt x="368510" y="495368"/>
                  </a:cubicBezTo>
                  <a:cubicBezTo>
                    <a:pt x="438524" y="495368"/>
                    <a:pt x="495370" y="438534"/>
                    <a:pt x="495370" y="368508"/>
                  </a:cubicBezTo>
                  <a:cubicBezTo>
                    <a:pt x="495370" y="298497"/>
                    <a:pt x="438524" y="241662"/>
                    <a:pt x="368510" y="241662"/>
                  </a:cubicBezTo>
                  <a:close/>
                </a:path>
              </a:pathLst>
            </a:custGeom>
            <a:solidFill>
              <a:srgbClr val="0D3B6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203200" y="165100"/>
              <a:ext cx="3302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4518025"/>
            <a:ext cx="8324850" cy="5102225"/>
            <a:chOff x="0" y="0"/>
            <a:chExt cx="11099800" cy="680296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5250"/>
              <a:ext cx="11099800" cy="5401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60"/>
                </a:lnSpc>
              </a:pPr>
              <a:r>
                <a:rPr lang="en-US" sz="9600" b="1" spc="-240">
                  <a:solidFill>
                    <a:srgbClr val="FFFFFF"/>
                  </a:solidFill>
                  <a:latin typeface="Garet Bold"/>
                  <a:ea typeface="Garet Bold"/>
                  <a:cs typeface="Garet Bold"/>
                  <a:sym typeface="Garet Bold"/>
                </a:rPr>
                <a:t>Using Big Data Analytics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83157"/>
              <a:ext cx="9588500" cy="1019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20"/>
                </a:lnSpc>
              </a:pPr>
              <a:r>
                <a:rPr lang="en-US" sz="240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Vipin Kumar | Roll No: 24MBMB13 | MBA (Business Analytics) Capstone Presentation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05025" y="794385"/>
            <a:ext cx="5448300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</a:pPr>
            <a:r>
              <a:rPr lang="en-US" sz="2400" b="1" spc="6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UNIVERSITY OF HYDERABAD, MBA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8629650" cy="10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0D3B66"/>
                </a:solidFill>
                <a:latin typeface="Garet Bold"/>
                <a:ea typeface="Garet Bold"/>
                <a:cs typeface="Garet Bold"/>
                <a:sym typeface="Garet Bold"/>
              </a:rPr>
              <a:t>Project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172950" y="7834312"/>
            <a:ext cx="5448300" cy="1546860"/>
            <a:chOff x="0" y="0"/>
            <a:chExt cx="7264400" cy="2062480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Dataset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4855"/>
              <a:ext cx="7264400" cy="13176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25"/>
                </a:lnSpc>
                <a:spcBef>
                  <a:spcPct val="0"/>
                </a:spcBef>
              </a:pPr>
              <a:r>
                <a:rPr lang="en-US" sz="1875" u="none" strike="noStrike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project uses the dataset workspace.default.breast_cancer_big_data_dataset for comprehensive analysis and insights.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34675" y="7791450"/>
            <a:ext cx="585578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 b="1">
                <a:solidFill>
                  <a:srgbClr val="0D3B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172950" y="5148262"/>
            <a:ext cx="5448300" cy="1270635"/>
            <a:chOff x="0" y="0"/>
            <a:chExt cx="7264400" cy="1694180"/>
          </a:xfrm>
        </p:grpSpPr>
        <p:sp>
          <p:nvSpPr>
            <p:cNvPr id="8" name="TextBox 8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Tools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44855"/>
              <a:ext cx="7264400" cy="949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25"/>
                </a:lnSpc>
                <a:spcBef>
                  <a:spcPct val="0"/>
                </a:spcBef>
              </a:pPr>
              <a:r>
                <a:rPr lang="en-US" sz="1875" u="none" strike="noStrike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Utilized tools include </a:t>
              </a:r>
              <a:r>
                <a:rPr lang="en-US" sz="1875" b="1" u="none" strike="noStrike">
                  <a:solidFill>
                    <a:srgbClr val="144D9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PySpark, scikit-learn,</a:t>
              </a:r>
              <a:r>
                <a:rPr lang="en-US" sz="1875" u="none" strike="noStrike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sz="1875" b="1" u="none" strike="noStrike">
                  <a:solidFill>
                    <a:srgbClr val="144D9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Plotly</a:t>
              </a:r>
              <a:r>
                <a:rPr lang="en-US" sz="1875" u="none" strike="noStrike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effective data analysis and visualization.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734675" y="5105400"/>
            <a:ext cx="585578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 b="1">
                <a:solidFill>
                  <a:srgbClr val="0D3B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172950" y="2457450"/>
            <a:ext cx="5448300" cy="1242060"/>
            <a:chOff x="0" y="0"/>
            <a:chExt cx="7264400" cy="16560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44855"/>
              <a:ext cx="7264400" cy="911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25"/>
                </a:lnSpc>
              </a:pPr>
              <a:r>
                <a:rPr lang="en-US" sz="1875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</a:t>
              </a:r>
              <a:r>
                <a:rPr lang="en-US" sz="1875" b="1">
                  <a:solidFill>
                    <a:srgbClr val="144D9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main goal</a:t>
              </a:r>
              <a:r>
                <a:rPr lang="en-US" sz="1875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to apply Big Data Analytics for breast cancer detection and prediction.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2644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Goal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734675" y="2419350"/>
            <a:ext cx="585578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 b="1">
                <a:solidFill>
                  <a:srgbClr val="0D3B6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15" name="Freeform 15"/>
          <p:cNvSpPr/>
          <p:nvPr/>
        </p:nvSpPr>
        <p:spPr>
          <a:xfrm>
            <a:off x="666750" y="8724900"/>
            <a:ext cx="895350" cy="895350"/>
          </a:xfrm>
          <a:custGeom>
            <a:avLst/>
            <a:gdLst/>
            <a:ahLst/>
            <a:cxnLst/>
            <a:rect l="l" t="t" r="r" b="b"/>
            <a:pathLst>
              <a:path w="895350" h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957622" y="189148"/>
            <a:ext cx="2096712" cy="2108998"/>
          </a:xfrm>
          <a:custGeom>
            <a:avLst/>
            <a:gdLst/>
            <a:ahLst/>
            <a:cxnLst/>
            <a:rect l="l" t="t" r="r" b="b"/>
            <a:pathLst>
              <a:path w="2096712" h="2108998">
                <a:moveTo>
                  <a:pt x="0" y="0"/>
                </a:moveTo>
                <a:lnTo>
                  <a:pt x="2096713" y="0"/>
                </a:lnTo>
                <a:lnTo>
                  <a:pt x="2096713" y="2108998"/>
                </a:lnTo>
                <a:lnTo>
                  <a:pt x="0" y="210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26396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Detection and Feature Importance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981575" y="4254718"/>
            <a:ext cx="4010025" cy="3179225"/>
            <a:chOff x="0" y="0"/>
            <a:chExt cx="621258" cy="4925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1258" cy="492545"/>
            </a:xfrm>
            <a:custGeom>
              <a:avLst/>
              <a:gdLst/>
              <a:ahLst/>
              <a:cxnLst/>
              <a:rect l="l" t="t" r="r" b="b"/>
              <a:pathLst>
                <a:path w="621258" h="492545">
                  <a:moveTo>
                    <a:pt x="67572" y="0"/>
                  </a:moveTo>
                  <a:lnTo>
                    <a:pt x="553685" y="0"/>
                  </a:lnTo>
                  <a:cubicBezTo>
                    <a:pt x="571607" y="0"/>
                    <a:pt x="588794" y="7119"/>
                    <a:pt x="601466" y="19792"/>
                  </a:cubicBezTo>
                  <a:cubicBezTo>
                    <a:pt x="614139" y="32464"/>
                    <a:pt x="621258" y="49651"/>
                    <a:pt x="621258" y="67572"/>
                  </a:cubicBezTo>
                  <a:lnTo>
                    <a:pt x="621258" y="424973"/>
                  </a:lnTo>
                  <a:cubicBezTo>
                    <a:pt x="621258" y="442894"/>
                    <a:pt x="614139" y="460081"/>
                    <a:pt x="601466" y="472754"/>
                  </a:cubicBezTo>
                  <a:cubicBezTo>
                    <a:pt x="588794" y="485426"/>
                    <a:pt x="571607" y="492545"/>
                    <a:pt x="553685" y="492545"/>
                  </a:cubicBezTo>
                  <a:lnTo>
                    <a:pt x="67572" y="492545"/>
                  </a:lnTo>
                  <a:cubicBezTo>
                    <a:pt x="49651" y="492545"/>
                    <a:pt x="32464" y="485426"/>
                    <a:pt x="19792" y="472754"/>
                  </a:cubicBezTo>
                  <a:cubicBezTo>
                    <a:pt x="7119" y="460081"/>
                    <a:pt x="0" y="442894"/>
                    <a:pt x="0" y="424973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4981575" y="7829550"/>
            <a:ext cx="4010025" cy="1315688"/>
            <a:chOff x="0" y="0"/>
            <a:chExt cx="5346700" cy="1754250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Logistic Regression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40409"/>
              <a:ext cx="5346700" cy="101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8"/>
                </a:lnSpc>
              </a:pPr>
              <a:r>
                <a:rPr lang="en-US" sz="222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Achieved accuracy metrics, revealing diagnostic capabilities.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4248150"/>
            <a:ext cx="4010025" cy="3179225"/>
            <a:chOff x="0" y="0"/>
            <a:chExt cx="621258" cy="4925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1258" cy="492545"/>
            </a:xfrm>
            <a:custGeom>
              <a:avLst/>
              <a:gdLst/>
              <a:ahLst/>
              <a:cxnLst/>
              <a:rect l="l" t="t" r="r" b="b"/>
              <a:pathLst>
                <a:path w="621258" h="492545">
                  <a:moveTo>
                    <a:pt x="67572" y="0"/>
                  </a:moveTo>
                  <a:lnTo>
                    <a:pt x="553685" y="0"/>
                  </a:lnTo>
                  <a:cubicBezTo>
                    <a:pt x="571607" y="0"/>
                    <a:pt x="588794" y="7119"/>
                    <a:pt x="601466" y="19792"/>
                  </a:cubicBezTo>
                  <a:cubicBezTo>
                    <a:pt x="614139" y="32464"/>
                    <a:pt x="621258" y="49651"/>
                    <a:pt x="621258" y="67572"/>
                  </a:cubicBezTo>
                  <a:lnTo>
                    <a:pt x="621258" y="424973"/>
                  </a:lnTo>
                  <a:cubicBezTo>
                    <a:pt x="621258" y="442894"/>
                    <a:pt x="614139" y="460081"/>
                    <a:pt x="601466" y="472754"/>
                  </a:cubicBezTo>
                  <a:cubicBezTo>
                    <a:pt x="588794" y="485426"/>
                    <a:pt x="571607" y="492545"/>
                    <a:pt x="553685" y="492545"/>
                  </a:cubicBezTo>
                  <a:lnTo>
                    <a:pt x="67572" y="492545"/>
                  </a:lnTo>
                  <a:cubicBezTo>
                    <a:pt x="49651" y="492545"/>
                    <a:pt x="32464" y="485426"/>
                    <a:pt x="19792" y="472754"/>
                  </a:cubicBezTo>
                  <a:cubicBezTo>
                    <a:pt x="7119" y="460081"/>
                    <a:pt x="0" y="442894"/>
                    <a:pt x="0" y="424973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3611225" y="4248150"/>
            <a:ext cx="4010025" cy="3179225"/>
            <a:chOff x="0" y="0"/>
            <a:chExt cx="621258" cy="49254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1258" cy="492545"/>
            </a:xfrm>
            <a:custGeom>
              <a:avLst/>
              <a:gdLst/>
              <a:ahLst/>
              <a:cxnLst/>
              <a:rect l="l" t="t" r="r" b="b"/>
              <a:pathLst>
                <a:path w="621258" h="492545">
                  <a:moveTo>
                    <a:pt x="67572" y="0"/>
                  </a:moveTo>
                  <a:lnTo>
                    <a:pt x="553685" y="0"/>
                  </a:lnTo>
                  <a:cubicBezTo>
                    <a:pt x="571607" y="0"/>
                    <a:pt x="588794" y="7119"/>
                    <a:pt x="601466" y="19792"/>
                  </a:cubicBezTo>
                  <a:cubicBezTo>
                    <a:pt x="614139" y="32464"/>
                    <a:pt x="621258" y="49651"/>
                    <a:pt x="621258" y="67572"/>
                  </a:cubicBezTo>
                  <a:lnTo>
                    <a:pt x="621258" y="424973"/>
                  </a:lnTo>
                  <a:cubicBezTo>
                    <a:pt x="621258" y="442894"/>
                    <a:pt x="614139" y="460081"/>
                    <a:pt x="601466" y="472754"/>
                  </a:cubicBezTo>
                  <a:cubicBezTo>
                    <a:pt x="588794" y="485426"/>
                    <a:pt x="571607" y="492545"/>
                    <a:pt x="553685" y="492545"/>
                  </a:cubicBezTo>
                  <a:lnTo>
                    <a:pt x="67572" y="492545"/>
                  </a:lnTo>
                  <a:cubicBezTo>
                    <a:pt x="49651" y="492545"/>
                    <a:pt x="32464" y="485426"/>
                    <a:pt x="19792" y="472754"/>
                  </a:cubicBezTo>
                  <a:cubicBezTo>
                    <a:pt x="7119" y="460081"/>
                    <a:pt x="0" y="442894"/>
                    <a:pt x="0" y="424973"/>
                  </a:cubicBezTo>
                  <a:lnTo>
                    <a:pt x="0" y="67572"/>
                  </a:lnTo>
                  <a:cubicBezTo>
                    <a:pt x="0" y="49651"/>
                    <a:pt x="7119" y="32464"/>
                    <a:pt x="19792" y="19792"/>
                  </a:cubicBezTo>
                  <a:cubicBezTo>
                    <a:pt x="32464" y="7119"/>
                    <a:pt x="49651" y="0"/>
                    <a:pt x="6757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9296400" y="7829550"/>
            <a:ext cx="4010025" cy="1315688"/>
            <a:chOff x="0" y="0"/>
            <a:chExt cx="5346700" cy="175425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 dirty="0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40409"/>
              <a:ext cx="5346700" cy="101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8"/>
                </a:lnSpc>
              </a:pPr>
              <a:r>
                <a:rPr lang="en-US" sz="222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Enhanced accuracy and predictive power for detection.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611225" y="7829550"/>
            <a:ext cx="4010025" cy="1315688"/>
            <a:chOff x="0" y="0"/>
            <a:chExt cx="5346700" cy="175425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 Analysis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40409"/>
              <a:ext cx="5346700" cy="101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08"/>
                </a:lnSpc>
              </a:pPr>
              <a:r>
                <a:rPr lang="en-US" sz="2220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Identified key predictors for early breast cancer diagnosis.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62813" y="106647"/>
            <a:ext cx="2113169" cy="2125551"/>
          </a:xfrm>
          <a:custGeom>
            <a:avLst/>
            <a:gdLst/>
            <a:ahLst/>
            <a:cxnLst/>
            <a:rect l="l" t="t" r="r" b="b"/>
            <a:pathLst>
              <a:path w="2113169" h="2125551">
                <a:moveTo>
                  <a:pt x="0" y="0"/>
                </a:moveTo>
                <a:lnTo>
                  <a:pt x="2113169" y="0"/>
                </a:lnTo>
                <a:lnTo>
                  <a:pt x="2113169" y="2125551"/>
                </a:lnTo>
                <a:lnTo>
                  <a:pt x="0" y="2125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656" y="4254717"/>
            <a:ext cx="4156144" cy="317922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6400" y="4248149"/>
            <a:ext cx="4144566" cy="3185793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1225" y="4254717"/>
            <a:ext cx="3862387" cy="307110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42950"/>
            <a:ext cx="12639675" cy="2134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59"/>
              </a:lnSpc>
            </a:pPr>
            <a:r>
              <a:rPr lang="en-US" sz="7599" b="1" spc="-189">
                <a:solidFill>
                  <a:srgbClr val="0D3B66"/>
                </a:solidFill>
                <a:latin typeface="Garet Bold"/>
                <a:ea typeface="Garet Bold"/>
                <a:cs typeface="Garet Bold"/>
                <a:sym typeface="Garet Bold"/>
              </a:rPr>
              <a:t>Pattern Discovery and Risk Prediction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981575" y="7829550"/>
            <a:ext cx="4010025" cy="1368266"/>
            <a:chOff x="0" y="0"/>
            <a:chExt cx="5346700" cy="1824354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Algorithm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49934"/>
              <a:ext cx="5346700" cy="1074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Implemented K-Means algorithm to identify clusters.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296400" y="7829550"/>
            <a:ext cx="4010025" cy="1368266"/>
            <a:chOff x="0" y="0"/>
            <a:chExt cx="5346700" cy="182435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Clusters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49934"/>
              <a:ext cx="5346700" cy="1074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Analyzed patient groups with distinct tumor characteristics.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611225" y="7829550"/>
            <a:ext cx="4010025" cy="1368266"/>
            <a:chOff x="0" y="0"/>
            <a:chExt cx="5346700" cy="182435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38100"/>
              <a:ext cx="5346700" cy="566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 b="1">
                  <a:solidFill>
                    <a:srgbClr val="0D3B6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Models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49934"/>
              <a:ext cx="5346700" cy="1074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400">
                  <a:solidFill>
                    <a:srgbClr val="144D96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Utilized Random Forest and GBT for prediction.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6009533" y="106647"/>
            <a:ext cx="2166449" cy="2179143"/>
          </a:xfrm>
          <a:custGeom>
            <a:avLst/>
            <a:gdLst/>
            <a:ahLst/>
            <a:cxnLst/>
            <a:rect l="l" t="t" r="r" b="b"/>
            <a:pathLst>
              <a:path w="2166449" h="2179143">
                <a:moveTo>
                  <a:pt x="0" y="0"/>
                </a:moveTo>
                <a:lnTo>
                  <a:pt x="2166449" y="0"/>
                </a:lnTo>
                <a:lnTo>
                  <a:pt x="2166449" y="2179143"/>
                </a:lnTo>
                <a:lnTo>
                  <a:pt x="0" y="2179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864756" y="9022080"/>
            <a:ext cx="7191375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 b="1">
                <a:solidFill>
                  <a:srgbClr val="FF313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24mbmb13uohyd.ac.in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357091" y="4094473"/>
            <a:ext cx="10316754" cy="1550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94"/>
              </a:lnSpc>
            </a:pPr>
            <a:r>
              <a:rPr lang="en-US" sz="10903" b="1" spc="-27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id="5" name="Group 5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76351" cy="900526"/>
              </a:xfrm>
              <a:custGeom>
                <a:avLst/>
                <a:gdLst/>
                <a:ahLst/>
                <a:cxnLst/>
                <a:rect l="l" t="t" r="r" b="b"/>
                <a:pathLst>
                  <a:path w="1476351" h="900526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F0F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133350"/>
                <a:ext cx="1476351" cy="1033876"/>
              </a:xfrm>
              <a:prstGeom prst="rect">
                <a:avLst/>
              </a:prstGeom>
            </p:spPr>
            <p:txBody>
              <a:bodyPr lIns="123349" tIns="123349" rIns="123349" bIns="123349" rtlCol="0" anchor="ctr"/>
              <a:lstStyle/>
              <a:p>
                <a:pPr marL="0" lvl="0" indent="0" algn="ctr">
                  <a:lnSpc>
                    <a:spcPts val="96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49974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49974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rgbClr val="000000"/>
                </a:solidFill>
              </a:ln>
            </p:spPr>
          </p:sp>
        </p:grpSp>
      </p:grpSp>
      <p:sp>
        <p:nvSpPr>
          <p:cNvPr id="10" name="Freeform 10"/>
          <p:cNvSpPr/>
          <p:nvPr/>
        </p:nvSpPr>
        <p:spPr>
          <a:xfrm>
            <a:off x="16054520" y="106647"/>
            <a:ext cx="2121462" cy="2133893"/>
          </a:xfrm>
          <a:custGeom>
            <a:avLst/>
            <a:gdLst/>
            <a:ahLst/>
            <a:cxnLst/>
            <a:rect l="l" t="t" r="r" b="b"/>
            <a:pathLst>
              <a:path w="2121462" h="2133893">
                <a:moveTo>
                  <a:pt x="0" y="0"/>
                </a:moveTo>
                <a:lnTo>
                  <a:pt x="2121462" y="0"/>
                </a:lnTo>
                <a:lnTo>
                  <a:pt x="2121462" y="2133893"/>
                </a:lnTo>
                <a:lnTo>
                  <a:pt x="0" y="2133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147</Words>
  <Application>Microsoft Office PowerPoint</Application>
  <PresentationFormat>Custom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Helvetica World Bold</vt:lpstr>
      <vt:lpstr>Garet Bold</vt:lpstr>
      <vt:lpstr>Calibri</vt:lpstr>
      <vt:lpstr>Helvetica World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Using Big Data Analytics</dc:title>
  <dc:description>Presentation - Using Big Data Analytics</dc:description>
  <cp:lastModifiedBy>Vipin Parihar</cp:lastModifiedBy>
  <cp:revision>2</cp:revision>
  <dcterms:created xsi:type="dcterms:W3CDTF">2006-08-16T00:00:00Z</dcterms:created>
  <dcterms:modified xsi:type="dcterms:W3CDTF">2025-11-11T18:23:21Z</dcterms:modified>
  <dc:identifier>DAG4asC90-w</dc:identifier>
</cp:coreProperties>
</file>